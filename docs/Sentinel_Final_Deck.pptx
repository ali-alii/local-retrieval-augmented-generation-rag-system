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Aptos"/>
              </a:rPr>
              <a:t>SENTINEL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320"/>
                </a:solidFill>
                <a:latin typeface="Aptos"/>
              </a:rPr>
              <a:t>From assignment to shipped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61"/>
                </a:solidFill>
                <a:latin typeface="Aptos"/>
              </a:rPr>
              <a:t>A local RAG experiment became a complete, auditable cybersecurity workspace.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57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Aptos"/>
              </a:rPr>
              <a:t>WHAT WAS 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67712"/>
            <a:ext cx="3063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Local CIS Controls RAG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Connected chat frontend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Streaming + citations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Persistence +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703320" cy="3429000"/>
          </a:xfrm>
          <a:prstGeom prst="roundRect">
            <a:avLst/>
          </a:prstGeom>
          <a:solidFill>
            <a:srgbClr val="ECFDF5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Aptos"/>
              </a:rPr>
              <a:t>WHAT WAS SHIPPED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Grounded SSE answers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MongoDB threads + versions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Interactive evidence + abstention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Authenticated feedback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493008" cy="3429000"/>
          </a:xfrm>
          <a:prstGeom prst="roundRect">
            <a:avLst/>
          </a:prstGeom>
          <a:solidFill>
            <a:srgbClr val="0D3028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EF264"/>
                </a:solidFill>
                <a:latin typeface="Aptos"/>
              </a:rPr>
              <a:t>MEASURED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332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59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ED2CA"/>
                </a:solidFill>
                <a:latin typeface="Aptos"/>
              </a:rPr>
              <a:t>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63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191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ED2CA"/>
                </a:solidFill>
                <a:latin typeface="Aptos"/>
              </a:rPr>
              <a:t>Hit@5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97.83%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9136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ED2CA"/>
                </a:solidFill>
                <a:latin typeface="Aptos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028"/>
                </a:solidFill>
                <a:latin typeface="Aptos"/>
              </a:rPr>
              <a:t>React · .NET · FastAPI · Unstructured · BGE · Weaviate · Ollama/Qwen · MongoDB · DeepEval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Aptos"/>
              </a:rPr>
              <a:t>SENTINEL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320"/>
                </a:solidFill>
                <a:latin typeface="Aptos"/>
              </a:rPr>
              <a:t>Architecture and grounded AI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61"/>
                </a:solidFill>
                <a:latin typeface="Aptos"/>
              </a:rPr>
              <a:t>One boundary separates user experience, application security, and ML experimentation.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148840" cy="1143000"/>
          </a:xfrm>
          <a:prstGeom prst="roundRect">
            <a:avLst/>
          </a:prstGeom>
          <a:solidFill>
            <a:srgbClr val="ECFDF5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3028"/>
                </a:solidFill>
                <a:latin typeface="Aptos"/>
              </a:rPr>
              <a:t>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3028"/>
                </a:solidFill>
                <a:latin typeface="Aptos"/>
              </a:rPr>
              <a:t>Chat · Markdown · 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214884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20391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3028"/>
                </a:solidFill>
                <a:latin typeface="Aptos"/>
              </a:rPr>
              <a:t>.NET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45059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3028"/>
                </a:solidFill>
                <a:latin typeface="Aptos"/>
              </a:rPr>
              <a:t>Auth · ownership · persistence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28800"/>
            <a:ext cx="2148840" cy="1143000"/>
          </a:xfrm>
          <a:prstGeom prst="roundRect">
            <a:avLst/>
          </a:prstGeom>
          <a:solidFill>
            <a:srgbClr val="D1FAE5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0391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3028"/>
                </a:solidFill>
                <a:latin typeface="Aptos"/>
              </a:rPr>
              <a:t>FASTAPI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45059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3028"/>
                </a:solidFill>
                <a:latin typeface="Aptos"/>
              </a:rPr>
              <a:t>Retrieve · rerank · generate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828800"/>
            <a:ext cx="2148840" cy="1143000"/>
          </a:xfrm>
          <a:prstGeom prst="roundRect">
            <a:avLst/>
          </a:prstGeom>
          <a:solidFill>
            <a:srgbClr val="0D3028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391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LOCAL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5059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Weaviate · BGE · Qwen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337560"/>
            <a:ext cx="4754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6027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Aptos"/>
              </a:rPr>
              <a:t>JUSTIFIED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023360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320"/>
                </a:solidFill>
                <a:latin typeface="Aptos"/>
              </a:rPr>
              <a:t>.NET is the security and persistence boundary. The browser cannot reach the model, vector store, or database directly; Python remains focused on the RAG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028"/>
                </a:solidFill>
                <a:latin typeface="Aptos"/>
              </a:rPr>
              <a:t>Insufficient evidence → abstain. Strong evidence → Qwen answer + clickable page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Aptos"/>
              </a:rPr>
              <a:t>SENTINEL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320"/>
                </a:solidFill>
                <a:latin typeface="Aptos"/>
              </a:rPr>
              <a:t>Lessons learned and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607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61"/>
                </a:solidFill>
                <a:latin typeface="Aptos"/>
              </a:rPr>
              <a:t>The feedback loop turns individual failures into measurable system improvements.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492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Aptos"/>
              </a:rPr>
              <a:t>LESSONS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Retrieval quality matters more than prompt size.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Streaming improves perception; persistence makes a product.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Golden data, LLM judging, and human feedback serve different roles.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AI coding agents need repository-specific constraints and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49240" cy="4069080"/>
          </a:xfrm>
          <a:prstGeom prst="roundRect">
            <a:avLst/>
          </a:prstGeom>
          <a:solidFill>
            <a:srgbClr val="ECFDF5"/>
          </a:solidFill>
          <a:ln>
            <a:solidFill>
              <a:srgbClr val="DC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470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Aptos"/>
              </a:rPr>
              <a:t>BUSINESS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04288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Faster access to auditable security guidance.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Private inference for sensitive internal documents.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Saved investigations improve analyst continuity.</a:t>
            </a:r>
          </a:p>
          <a:p>
            <a:pPr>
              <a:spcAft>
                <a:spcPts val="800"/>
              </a:spcAft>
              <a:defRPr sz="1600">
                <a:solidFill>
                  <a:srgbClr val="1C2320"/>
                </a:solidFill>
                <a:latin typeface="Aptos"/>
              </a:defRPr>
            </a:pPr>
            <a:r>
              <a:t>•  Version-linked feedback creates regression tests and measurable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6188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028"/>
                </a:solidFill>
                <a:latin typeface="Aptos"/>
              </a:rPr>
              <a:t>RATE → REVIEW EVIDENCE → ADD GOLDEN CASE → REFINE RETRIEVAL → REEVALUATE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